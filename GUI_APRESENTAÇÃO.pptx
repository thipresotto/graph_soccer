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swald"/>
      <p:regular r:id="rId14"/>
      <p:bold r:id="rId15"/>
    </p:embeddedFont>
    <p:embeddedFont>
      <p:font typeface="Comfortaa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17" Type="http://schemas.openxmlformats.org/officeDocument/2006/relationships/font" Target="fonts/Comfortaa-bold.fntdata"/><Relationship Id="rId16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79f182d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79f182d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79f182d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079f182d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79f182d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079f182d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079f182d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079f182d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079f182dc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079f182dc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079f182dc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079f182dc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079f182dc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079f182dc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lack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WhatsApp Image 2025-12-14 at 19.26.35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7958" y="-183350"/>
            <a:ext cx="6083101" cy="53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black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 title="gameshow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4121" y="0"/>
            <a:ext cx="615575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black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4299325" y="2386050"/>
            <a:ext cx="320100" cy="37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4354675" y="1730800"/>
            <a:ext cx="209400" cy="489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 rot="10800000">
            <a:off x="4354675" y="2922800"/>
            <a:ext cx="209400" cy="489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 rot="5400000">
            <a:off x="4941750" y="2326800"/>
            <a:ext cx="209400" cy="489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 rot="-5400000">
            <a:off x="3767600" y="2326800"/>
            <a:ext cx="209400" cy="489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 rot="2700000">
            <a:off x="4761979" y="1893698"/>
            <a:ext cx="209586" cy="490025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 rot="-2700000">
            <a:off x="3947192" y="1893691"/>
            <a:ext cx="209586" cy="490025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 rot="-8100000">
            <a:off x="3947185" y="2759777"/>
            <a:ext cx="209586" cy="490025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 rot="8100000">
            <a:off x="4761972" y="2759784"/>
            <a:ext cx="209586" cy="490025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4253875" y="1122717"/>
            <a:ext cx="411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971867" y="1472697"/>
            <a:ext cx="411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5258617" y="2228603"/>
            <a:ext cx="411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5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015857" y="3092294"/>
            <a:ext cx="411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7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230165" y="3459502"/>
            <a:ext cx="4947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11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562827" y="3193017"/>
            <a:ext cx="6495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13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190669" y="2299732"/>
            <a:ext cx="6495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17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423806" y="1503940"/>
            <a:ext cx="6495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19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 title="black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695475" y="505800"/>
            <a:ext cx="8219400" cy="4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-1   1385670  9690    9690   9690   9690    9690   9690   9690    9690   9690 746130  -1</a:t>
            </a:r>
            <a:endParaRPr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-1   92378     0          0         0         0          0         0         0          0         0         2310    -1 </a:t>
            </a:r>
            <a:endParaRPr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-1   92378     0          0         0         0          0         0         0          0         0         2310    -1</a:t>
            </a:r>
            <a:endParaRPr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-1   646        0          0         0         0          0         0         0          0         0         30        -1</a:t>
            </a:r>
            <a:endParaRPr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0    0            0          0         0         0          1          0         0          0         0         0          0</a:t>
            </a:r>
            <a:endParaRPr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-1   2431       0          0         0         0          0         0         0          0         0         385      -1</a:t>
            </a:r>
            <a:endParaRPr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-1   92378     0          0         0         0          0         0         0          0         0         2310     -1</a:t>
            </a:r>
            <a:endParaRPr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-1   92378     0          0         0         0          0         0         0          0         0         2310     -1</a:t>
            </a:r>
            <a:endParaRPr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-1   3233230 85085 85085 85085 85085 85085 85085 85085 85085 85085 510510 -1</a:t>
            </a:r>
            <a:endParaRPr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 title="black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5753522" y="1675488"/>
            <a:ext cx="411000" cy="4032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2448788" y="1669829"/>
            <a:ext cx="411000" cy="4032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 rot="10800000">
            <a:off x="3238012" y="2746253"/>
            <a:ext cx="2208900" cy="8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5368525" y="2049000"/>
            <a:ext cx="1175400" cy="10455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5656525" y="2277731"/>
            <a:ext cx="599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2"/>
                </a:solidFill>
              </a:rPr>
              <a:t>P2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117225" y="2277725"/>
            <a:ext cx="2208900" cy="8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2051425" y="2049000"/>
            <a:ext cx="1175400" cy="10455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2323619" y="2277731"/>
            <a:ext cx="599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2"/>
                </a:solidFill>
              </a:rPr>
              <a:t>P1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816852" y="1880975"/>
            <a:ext cx="853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</a:rPr>
              <a:t>V</a:t>
            </a:r>
            <a:r>
              <a:rPr lang="pt-BR" sz="800">
                <a:solidFill>
                  <a:schemeClr val="lt1"/>
                </a:solidFill>
              </a:rPr>
              <a:t>dest</a:t>
            </a:r>
            <a:r>
              <a:rPr lang="pt-BR" sz="1800">
                <a:solidFill>
                  <a:schemeClr val="lt1"/>
                </a:solidFill>
              </a:rPr>
              <a:t> </a:t>
            </a:r>
            <a:r>
              <a:rPr lang="pt-BR" sz="1300">
                <a:solidFill>
                  <a:schemeClr val="lt1"/>
                </a:solidFill>
              </a:rPr>
              <a:t>= 0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3793150" y="2776275"/>
            <a:ext cx="853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</a:rPr>
              <a:t>V</a:t>
            </a:r>
            <a:r>
              <a:rPr lang="pt-BR" sz="800">
                <a:solidFill>
                  <a:schemeClr val="lt1"/>
                </a:solidFill>
              </a:rPr>
              <a:t>dest</a:t>
            </a:r>
            <a:r>
              <a:rPr lang="pt-BR" sz="1800">
                <a:solidFill>
                  <a:schemeClr val="lt1"/>
                </a:solidFill>
              </a:rPr>
              <a:t> </a:t>
            </a:r>
            <a:r>
              <a:rPr lang="pt-BR" sz="1300">
                <a:solidFill>
                  <a:schemeClr val="lt1"/>
                </a:solidFill>
              </a:rPr>
              <a:t>= 0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1803804" y="1269238"/>
            <a:ext cx="19107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</a:rPr>
              <a:t>V</a:t>
            </a:r>
            <a:r>
              <a:rPr lang="pt-BR" sz="800">
                <a:solidFill>
                  <a:schemeClr val="lt1"/>
                </a:solidFill>
              </a:rPr>
              <a:t>dest</a:t>
            </a:r>
            <a:r>
              <a:rPr lang="pt-BR" sz="1800">
                <a:solidFill>
                  <a:schemeClr val="lt1"/>
                </a:solidFill>
              </a:rPr>
              <a:t> </a:t>
            </a:r>
            <a:r>
              <a:rPr lang="pt-BR" sz="1300">
                <a:solidFill>
                  <a:schemeClr val="lt1"/>
                </a:solidFill>
              </a:rPr>
              <a:t>&gt; 0 ou</a:t>
            </a:r>
            <a:r>
              <a:rPr lang="pt-BR" sz="1800">
                <a:solidFill>
                  <a:schemeClr val="lt1"/>
                </a:solidFill>
              </a:rPr>
              <a:t> </a:t>
            </a:r>
            <a:r>
              <a:rPr lang="pt-BR" sz="1300">
                <a:solidFill>
                  <a:schemeClr val="lt1"/>
                </a:solidFill>
              </a:rPr>
              <a:t>V</a:t>
            </a:r>
            <a:r>
              <a:rPr lang="pt-BR" sz="800">
                <a:solidFill>
                  <a:schemeClr val="lt1"/>
                </a:solidFill>
              </a:rPr>
              <a:t>dest </a:t>
            </a:r>
            <a:r>
              <a:rPr lang="pt-BR" sz="1300">
                <a:solidFill>
                  <a:schemeClr val="lt1"/>
                </a:solidFill>
              </a:rPr>
              <a:t>= -1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5144343" y="1269238"/>
            <a:ext cx="17157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</a:rPr>
              <a:t>V</a:t>
            </a:r>
            <a:r>
              <a:rPr lang="pt-BR" sz="800">
                <a:solidFill>
                  <a:schemeClr val="lt1"/>
                </a:solidFill>
              </a:rPr>
              <a:t>dest</a:t>
            </a:r>
            <a:r>
              <a:rPr lang="pt-BR" sz="1800">
                <a:solidFill>
                  <a:schemeClr val="lt1"/>
                </a:solidFill>
              </a:rPr>
              <a:t> </a:t>
            </a:r>
            <a:r>
              <a:rPr lang="pt-BR" sz="1300">
                <a:solidFill>
                  <a:schemeClr val="lt1"/>
                </a:solidFill>
              </a:rPr>
              <a:t>&gt; 0 ou </a:t>
            </a:r>
            <a:r>
              <a:rPr lang="pt-BR" sz="1300">
                <a:solidFill>
                  <a:schemeClr val="lt1"/>
                </a:solidFill>
              </a:rPr>
              <a:t>V</a:t>
            </a:r>
            <a:r>
              <a:rPr lang="pt-BR" sz="800">
                <a:solidFill>
                  <a:schemeClr val="lt1"/>
                </a:solidFill>
              </a:rPr>
              <a:t>dest </a:t>
            </a:r>
            <a:r>
              <a:rPr lang="pt-BR" sz="1300">
                <a:solidFill>
                  <a:schemeClr val="lt1"/>
                </a:solidFill>
              </a:rPr>
              <a:t>= -1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8" title="black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 title="code1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445025"/>
            <a:ext cx="3720500" cy="11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 title="code2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728075"/>
            <a:ext cx="8326062" cy="28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9" title="black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>
            <p:ph type="title"/>
          </p:nvPr>
        </p:nvSpPr>
        <p:spPr>
          <a:xfrm>
            <a:off x="2271693" y="445025"/>
            <a:ext cx="496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EXPECTATIVA VS REALIDADE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2" name="Google Shape;122;p19" title="Wagon_Da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0875" y="1942386"/>
            <a:ext cx="3822249" cy="21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2271693" y="445025"/>
            <a:ext cx="496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EXPECTATIVA VS REALIDADE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8" name="Google Shape;128;p20" title="black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>
            <p:ph type="title"/>
          </p:nvPr>
        </p:nvSpPr>
        <p:spPr>
          <a:xfrm>
            <a:off x="2271693" y="445025"/>
            <a:ext cx="496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INCREMENTOS NECESSÁRIOS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632250" y="1588550"/>
            <a:ext cx="72552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t-BR" sz="1800">
                <a:solidFill>
                  <a:schemeClr val="lt1"/>
                </a:solidFill>
              </a:rPr>
              <a:t>Interação com mouse: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t-BR" sz="1800">
                <a:solidFill>
                  <a:schemeClr val="lt1"/>
                </a:solidFill>
              </a:rPr>
              <a:t>Desfazer lances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t-BR" sz="1800">
                <a:solidFill>
                  <a:schemeClr val="lt1"/>
                </a:solidFill>
              </a:rPr>
              <a:t>Remover vértices desnecessários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t-BR" sz="1800">
                <a:solidFill>
                  <a:schemeClr val="lt1"/>
                </a:solidFill>
              </a:rPr>
              <a:t>Indicador da posição atual da bola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t-BR" sz="1800">
                <a:solidFill>
                  <a:schemeClr val="lt1"/>
                </a:solidFill>
              </a:rPr>
              <a:t>Remoção de arestas (variante)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2820" y="896796"/>
            <a:ext cx="3964426" cy="396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